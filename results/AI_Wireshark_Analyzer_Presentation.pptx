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FE7FE1-23C6-4BBE-AFA5-76EC766944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AFF52D-58DE-4839-88F7-509760FCA3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6AE5BBE-E171-46A1-BD93-6701DE9DA2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197B0D6-3DE9-4D32-B0FF-CCF3DCCB64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77196A1-45A8-4257-B665-9EFC8114B4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9C4BB4A-BF38-416D-AB39-DB46E847F5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B6683EA-9919-4564-9382-4F16A55CBF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808D335-7C96-4FB5-8065-96E24333B3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BD49069-ADF7-4E97-A085-D2E341EE53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4CF3DAC-64A3-463E-8FD6-765370E66B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AA2C0F0-5641-4106-9C20-067523B229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1DE78E-889F-43B1-9DD5-ECDC43AEF7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0F860C-4149-4DED-92C2-65F79627C6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3C89B1-2324-4C53-9BD4-228A7A83A2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153B28-D798-4D39-B6CC-986622A75B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120298-5EF8-4056-BD8F-5DCBC79C83A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468DE9-6465-4354-A5BA-F09C8C9FAD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686F2D-695D-447D-A749-93CA0A8963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76A85D-2B79-4637-B8C7-01E08D8C2C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EDAD3B-D116-47AA-8423-760C3E6925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5623B6-6A12-4A76-A50F-AF7080E3D60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05FE6E-2108-4BED-8B58-EA3050CFC0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9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31520" y="731520"/>
            <a:ext cx="100580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AI-Wireshark-Analyzer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31520" y="141732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009ef7"/>
                </a:solidFill>
                <a:latin typeface="Calibri"/>
              </a:rPr>
              <a:t>Automated Network Traffic Analysis &amp; Security Threat Detection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731520" y="2011680"/>
            <a:ext cx="2742840" cy="36360"/>
          </a:xfrm>
          <a:prstGeom prst="rect">
            <a:avLst/>
          </a:prstGeom>
          <a:solidFill>
            <a:srgbClr val="00c9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731520" y="2286000"/>
            <a:ext cx="5028840" cy="35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pc="-1" strike="noStrike">
                <a:solidFill>
                  <a:srgbClr val="00c983"/>
                </a:solidFill>
                <a:latin typeface="Calibri"/>
              </a:rPr>
              <a:t>What It Does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Analyses Wireshark packet captures (PCAP/PCAPNG) using rule-based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protocol inspection and Machine Learning to detect network threats,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diagnose connectivity issues, and generate actionable reports.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pc="-1" strike="noStrike">
                <a:solidFill>
                  <a:srgbClr val="00c983"/>
                </a:solidFill>
                <a:latin typeface="Calibri"/>
              </a:rPr>
              <a:t>Why It Matters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Turns hours of manual Wireshark analysis into automated,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repeatable diagnostics with one command — no Wireshark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expertise needed by the end user.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ounded Rectangle 6"/>
          <p:cNvSpPr/>
          <p:nvPr/>
        </p:nvSpPr>
        <p:spPr>
          <a:xfrm>
            <a:off x="6858000" y="2286000"/>
            <a:ext cx="2194200" cy="9140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 w="25400">
            <a:solidFill>
              <a:srgbClr val="009e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858000" y="2377440"/>
            <a:ext cx="2194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09ef7"/>
                </a:solidFill>
                <a:latin typeface="Calibri"/>
              </a:rPr>
              <a:t>8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6858000" y="2834640"/>
            <a:ext cx="2194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Protocol Analyzers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Rounded Rectangle 9"/>
          <p:cNvSpPr/>
          <p:nvPr/>
        </p:nvSpPr>
        <p:spPr>
          <a:xfrm>
            <a:off x="9326880" y="2286000"/>
            <a:ext cx="2194200" cy="9140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 w="25400">
            <a:solidFill>
              <a:srgbClr val="00c98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9326880" y="2377440"/>
            <a:ext cx="2194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0c983"/>
                </a:solidFill>
                <a:latin typeface="Calibri"/>
              </a:rPr>
              <a:t>3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9326880" y="2834640"/>
            <a:ext cx="2194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ML/DL Models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ounded Rectangle 12"/>
          <p:cNvSpPr/>
          <p:nvPr/>
        </p:nvSpPr>
        <p:spPr>
          <a:xfrm>
            <a:off x="6858000" y="3474720"/>
            <a:ext cx="2194200" cy="9140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 w="25400"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6858000" y="3566160"/>
            <a:ext cx="2194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8c00"/>
                </a:solidFill>
                <a:latin typeface="Calibri"/>
              </a:rPr>
              <a:t>50+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6858000" y="4023360"/>
            <a:ext cx="2194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Threat Signatures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ounded Rectangle 15"/>
          <p:cNvSpPr/>
          <p:nvPr/>
        </p:nvSpPr>
        <p:spPr>
          <a:xfrm>
            <a:off x="9326880" y="3474720"/>
            <a:ext cx="2194200" cy="9140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 w="25400">
            <a:solidFill>
              <a:srgbClr val="009e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9326880" y="3566160"/>
            <a:ext cx="2194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09ef7"/>
                </a:solidFill>
                <a:latin typeface="Calibri"/>
              </a:rPr>
              <a:t>32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9326880" y="4023360"/>
            <a:ext cx="21942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WLAN Fields Extracted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ounded Rectangle 18"/>
          <p:cNvSpPr/>
          <p:nvPr/>
        </p:nvSpPr>
        <p:spPr>
          <a:xfrm>
            <a:off x="2286000" y="5898240"/>
            <a:ext cx="11246760" cy="5025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1371960" y="5943600"/>
            <a:ext cx="10972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bbbbcc"/>
                </a:solidFill>
                <a:latin typeface="Calibri"/>
              </a:rPr>
              <a:t>Python  •  tshark  •  PyShark  •  scikit-learn  •  TensorFlow  •  FastAPI  •  Click/Rich  •  Matplotlib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20"/>
          <p:cNvSpPr/>
          <p:nvPr/>
        </p:nvSpPr>
        <p:spPr>
          <a:xfrm>
            <a:off x="731520" y="6217920"/>
            <a:ext cx="4571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666688"/>
                </a:solidFill>
                <a:latin typeface="Calibri"/>
              </a:rPr>
              <a:t>v1.2.0  |  May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9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548640" y="274320"/>
            <a:ext cx="91436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What We Analyse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548640" y="777240"/>
            <a:ext cx="9143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Comprehensive protocol coverage from Layer 2 (Wi-Fi) to Layer 7 (HTTP/DNS)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ounded Rectangle 4"/>
          <p:cNvSpPr/>
          <p:nvPr/>
        </p:nvSpPr>
        <p:spPr>
          <a:xfrm>
            <a:off x="502920" y="1371600"/>
            <a:ext cx="3611880" cy="251460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 w="19050">
            <a:solidFill>
              <a:srgbClr val="009e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Oval 5"/>
          <p:cNvSpPr/>
          <p:nvPr/>
        </p:nvSpPr>
        <p:spPr>
          <a:xfrm>
            <a:off x="731520" y="1572840"/>
            <a:ext cx="456840" cy="456840"/>
          </a:xfrm>
          <a:prstGeom prst="ellipse">
            <a:avLst/>
          </a:prstGeom>
          <a:solidFill>
            <a:srgbClr val="009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📡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1325880" y="1536120"/>
            <a:ext cx="2514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9ef7"/>
                </a:solidFill>
                <a:latin typeface="Calibri"/>
              </a:rPr>
              <a:t>Wi-Fi / WLAN (802.11)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777240" y="2030040"/>
            <a:ext cx="3062880" cy="18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WPA2 &amp; WPA3/SAE auth failure diagnosis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Per-client connection flow reconstruction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Beacon loss, probe failures, weak signal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Invalid password detection (EAPOL stall)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40+ IEEE reason/status codes decoded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8"/>
          <p:cNvSpPr/>
          <p:nvPr/>
        </p:nvSpPr>
        <p:spPr>
          <a:xfrm>
            <a:off x="4343400" y="1371600"/>
            <a:ext cx="3520080" cy="242280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 w="19050"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Oval 9"/>
          <p:cNvSpPr/>
          <p:nvPr/>
        </p:nvSpPr>
        <p:spPr>
          <a:xfrm>
            <a:off x="4572000" y="1572840"/>
            <a:ext cx="456840" cy="456840"/>
          </a:xfrm>
          <a:prstGeom prst="ellipse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🔒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166360" y="1536120"/>
            <a:ext cx="2514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8c00"/>
                </a:solidFill>
                <a:latin typeface="Calibri"/>
              </a:rPr>
              <a:t>Network Security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4617720" y="2030040"/>
            <a:ext cx="3062880" cy="15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SYN flood, RST storm, port scan detection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DNS tunneling &amp; DGA domain detection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SQL injection &amp; XSS in HTTP traffic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ICMP flood, Smurf, Ping of Death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DHCP starvation &amp; rogue server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ounded Rectangle 12"/>
          <p:cNvSpPr/>
          <p:nvPr/>
        </p:nvSpPr>
        <p:spPr>
          <a:xfrm>
            <a:off x="8183880" y="1371600"/>
            <a:ext cx="3520080" cy="242280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 w="19050">
            <a:solidFill>
              <a:srgbClr val="00c98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Oval 13"/>
          <p:cNvSpPr/>
          <p:nvPr/>
        </p:nvSpPr>
        <p:spPr>
          <a:xfrm>
            <a:off x="8412480" y="1572840"/>
            <a:ext cx="456840" cy="456840"/>
          </a:xfrm>
          <a:prstGeom prst="ellipse">
            <a:avLst/>
          </a:prstGeom>
          <a:solidFill>
            <a:srgbClr val="00c9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⚙️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9006840" y="1536120"/>
            <a:ext cx="2514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c983"/>
                </a:solidFill>
                <a:latin typeface="Calibri"/>
              </a:rPr>
              <a:t>Application Diagnostics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15"/>
          <p:cNvSpPr/>
          <p:nvPr/>
        </p:nvSpPr>
        <p:spPr>
          <a:xfrm>
            <a:off x="8458200" y="2030040"/>
            <a:ext cx="3062880" cy="15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TCP zero-window stalls &amp; retransmissions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RST event catalogue with burst detection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UDP flow analysis, QUIC detection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IPv6 per-address traffic deep-dive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Print job failure diagnosis (port 9100)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ounded Rectangle 16"/>
          <p:cNvSpPr/>
          <p:nvPr/>
        </p:nvSpPr>
        <p:spPr>
          <a:xfrm>
            <a:off x="502920" y="4114800"/>
            <a:ext cx="5303160" cy="21027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 w="19050">
            <a:solidFill>
              <a:srgbClr val="009e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Oval 17"/>
          <p:cNvSpPr/>
          <p:nvPr/>
        </p:nvSpPr>
        <p:spPr>
          <a:xfrm>
            <a:off x="731520" y="4316040"/>
            <a:ext cx="456840" cy="456840"/>
          </a:xfrm>
          <a:prstGeom prst="ellipse">
            <a:avLst/>
          </a:prstGeom>
          <a:solidFill>
            <a:srgbClr val="009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🧠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18"/>
          <p:cNvSpPr/>
          <p:nvPr/>
        </p:nvSpPr>
        <p:spPr>
          <a:xfrm>
            <a:off x="1325880" y="4279320"/>
            <a:ext cx="4297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9ef7"/>
                </a:solidFill>
                <a:latin typeface="Calibri"/>
              </a:rPr>
              <a:t>Machine Learning &amp; AI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Box 19"/>
          <p:cNvSpPr/>
          <p:nvPr/>
        </p:nvSpPr>
        <p:spPr>
          <a:xfrm>
            <a:off x="777240" y="4773240"/>
            <a:ext cx="4845960" cy="13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Isolation Forest — unsupervised anomaly detection (no labels needed)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Autoencoder (TensorFlow) — deep-learning anomaly scoring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Random Forest — supervised attack classification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50+ engineered features: IP, port, protocol, statistical, DNS, HTTP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ounded Rectangle 20"/>
          <p:cNvSpPr/>
          <p:nvPr/>
        </p:nvSpPr>
        <p:spPr>
          <a:xfrm>
            <a:off x="6126480" y="4114800"/>
            <a:ext cx="5668920" cy="21027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 w="19050">
            <a:solidFill>
              <a:srgbClr val="00c98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Oval 21"/>
          <p:cNvSpPr/>
          <p:nvPr/>
        </p:nvSpPr>
        <p:spPr>
          <a:xfrm>
            <a:off x="6355080" y="4316040"/>
            <a:ext cx="456840" cy="456840"/>
          </a:xfrm>
          <a:prstGeom prst="ellipse">
            <a:avLst/>
          </a:prstGeom>
          <a:solidFill>
            <a:srgbClr val="00c9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📊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22"/>
          <p:cNvSpPr/>
          <p:nvPr/>
        </p:nvSpPr>
        <p:spPr>
          <a:xfrm>
            <a:off x="6949440" y="4279320"/>
            <a:ext cx="4663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c983"/>
                </a:solidFill>
                <a:latin typeface="Calibri"/>
              </a:rPr>
              <a:t>Output &amp; Reporting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23"/>
          <p:cNvSpPr/>
          <p:nvPr/>
        </p:nvSpPr>
        <p:spPr>
          <a:xfrm>
            <a:off x="6400800" y="4773240"/>
            <a:ext cx="5211720" cy="93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Self-contained HTML reports with charts &amp; severity badges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JSON results for programmatic consumption / dashboards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REST API (FastAPI) — upload PCAP, get results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▸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CLI with Rich formatting — single-command analysis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9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548640" y="274320"/>
            <a:ext cx="91436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How Teams Use It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548640" y="777240"/>
            <a:ext cx="9143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bbbbcc"/>
                </a:solidFill>
                <a:latin typeface="Calibri"/>
              </a:rPr>
              <a:t>One command, full analysis — no Wireshark expertise required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502920" y="1371600"/>
            <a:ext cx="3520080" cy="201132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 w="19050">
            <a:solidFill>
              <a:srgbClr val="009e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5"/>
          <p:cNvSpPr/>
          <p:nvPr/>
        </p:nvSpPr>
        <p:spPr>
          <a:xfrm>
            <a:off x="685800" y="1508760"/>
            <a:ext cx="352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9ef7"/>
                </a:solidFill>
                <a:latin typeface="Calibri"/>
              </a:rPr>
              <a:t>🔍  </a:t>
            </a:r>
            <a:r>
              <a:rPr b="1" lang="en-US" sz="1600" spc="-1" strike="noStrike">
                <a:solidFill>
                  <a:srgbClr val="009ef7"/>
                </a:solidFill>
                <a:latin typeface="Calibri"/>
              </a:rPr>
              <a:t>Wi-Fi Troubleshooting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685800" y="1874520"/>
            <a:ext cx="315432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bbbbcc"/>
                </a:solidFill>
                <a:latin typeface="Calibri"/>
              </a:rPr>
              <a:t>Command: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00c983"/>
                </a:solidFill>
                <a:latin typeface="Calibri"/>
              </a:rPr>
              <a:t>python3 scripts/run_wlan_analysis.py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00c983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00c983"/>
                </a:solidFill>
                <a:latin typeface="Calibri"/>
              </a:rPr>
              <a:t>capture.pcapng  c8:5a:cf:66:2e:1e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Diagnoses auth failures, weak signal,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  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EAPOL stalls, generates HTML report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Rounded Rectangle 7"/>
          <p:cNvSpPr/>
          <p:nvPr/>
        </p:nvSpPr>
        <p:spPr>
          <a:xfrm>
            <a:off x="4343400" y="1371600"/>
            <a:ext cx="3520080" cy="201132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 w="19050"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8"/>
          <p:cNvSpPr/>
          <p:nvPr/>
        </p:nvSpPr>
        <p:spPr>
          <a:xfrm>
            <a:off x="4526280" y="1508760"/>
            <a:ext cx="352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8c00"/>
                </a:solidFill>
                <a:latin typeface="Calibri"/>
              </a:rPr>
              <a:t>🛡️  </a:t>
            </a:r>
            <a:r>
              <a:rPr b="1" lang="en-US" sz="1600" spc="-1" strike="noStrike">
                <a:solidFill>
                  <a:srgbClr val="ff8c00"/>
                </a:solidFill>
                <a:latin typeface="Calibri"/>
              </a:rPr>
              <a:t>Security Threat Scan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Box 9"/>
          <p:cNvSpPr/>
          <p:nvPr/>
        </p:nvSpPr>
        <p:spPr>
          <a:xfrm>
            <a:off x="4526280" y="1874520"/>
            <a:ext cx="315432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bbbbcc"/>
                </a:solidFill>
                <a:latin typeface="Calibri"/>
              </a:rPr>
              <a:t>Command: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00c983"/>
                </a:solidFill>
                <a:latin typeface="Calibri"/>
              </a:rPr>
              <a:t>python3 src/api/cli.py analyze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00c983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00c983"/>
                </a:solidFill>
                <a:latin typeface="Calibri"/>
              </a:rPr>
              <a:t>-i traffic.pcap -p all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Scans all protocols: TCP, UDP, DNS,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  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HTTP, ICMP — reports all threats found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ounded Rectangle 10"/>
          <p:cNvSpPr/>
          <p:nvPr/>
        </p:nvSpPr>
        <p:spPr>
          <a:xfrm>
            <a:off x="8183880" y="1371600"/>
            <a:ext cx="3520080" cy="201132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 w="19050">
            <a:solidFill>
              <a:srgbClr val="00c98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11"/>
          <p:cNvSpPr/>
          <p:nvPr/>
        </p:nvSpPr>
        <p:spPr>
          <a:xfrm>
            <a:off x="8366760" y="1508760"/>
            <a:ext cx="352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c983"/>
                </a:solidFill>
                <a:latin typeface="Calibri"/>
              </a:rPr>
              <a:t>📈  </a:t>
            </a:r>
            <a:r>
              <a:rPr b="1" lang="en-US" sz="1600" spc="-1" strike="noStrike">
                <a:solidFill>
                  <a:srgbClr val="00c983"/>
                </a:solidFill>
                <a:latin typeface="Calibri"/>
              </a:rPr>
              <a:t>App / IPv6 Diagnostics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12"/>
          <p:cNvSpPr/>
          <p:nvPr/>
        </p:nvSpPr>
        <p:spPr>
          <a:xfrm>
            <a:off x="8366760" y="1874520"/>
            <a:ext cx="315432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bbbbcc"/>
                </a:solidFill>
                <a:latin typeface="Calibri"/>
              </a:rPr>
              <a:t>Command: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00c983"/>
                </a:solidFill>
                <a:latin typeface="Calibri"/>
              </a:rPr>
              <a:t>python3 scripts/run_ipv6_analysis.py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00c983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00c983"/>
                </a:solidFill>
                <a:latin typeface="Calibri"/>
              </a:rPr>
              <a:t>capture.pcapng  &lt;ipv6_address&gt;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6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TCP retransmissions, zero-window,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   </a:t>
            </a:r>
            <a:r>
              <a:rPr b="0" lang="en-US" sz="1200" spc="-1" strike="noStrike">
                <a:solidFill>
                  <a:srgbClr val="bbbbcc"/>
                </a:solidFill>
                <a:latin typeface="Calibri"/>
              </a:rPr>
              <a:t>RST events, UDP flows, SNMP analysis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13"/>
          <p:cNvSpPr/>
          <p:nvPr/>
        </p:nvSpPr>
        <p:spPr>
          <a:xfrm>
            <a:off x="548640" y="3749040"/>
            <a:ext cx="9143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Real Analyses Completed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Rounded Rectangle 14"/>
          <p:cNvSpPr/>
          <p:nvPr/>
        </p:nvSpPr>
        <p:spPr>
          <a:xfrm>
            <a:off x="502920" y="4206240"/>
            <a:ext cx="11155320" cy="319680"/>
          </a:xfrm>
          <a:prstGeom prst="roundRect">
            <a:avLst>
              <a:gd name="adj" fmla="val 5000"/>
            </a:avLst>
          </a:prstGeom>
          <a:solidFill>
            <a:srgbClr val="3035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15"/>
          <p:cNvSpPr/>
          <p:nvPr/>
        </p:nvSpPr>
        <p:spPr>
          <a:xfrm>
            <a:off x="640080" y="4233600"/>
            <a:ext cx="292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09ef7"/>
                </a:solidFill>
                <a:latin typeface="Calibri"/>
              </a:rPr>
              <a:t>Scenario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16"/>
          <p:cNvSpPr/>
          <p:nvPr/>
        </p:nvSpPr>
        <p:spPr>
          <a:xfrm>
            <a:off x="3566160" y="4233600"/>
            <a:ext cx="7311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09ef7"/>
                </a:solidFill>
                <a:latin typeface="Calibri"/>
              </a:rPr>
              <a:t>Type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Box 17"/>
          <p:cNvSpPr/>
          <p:nvPr/>
        </p:nvSpPr>
        <p:spPr>
          <a:xfrm>
            <a:off x="4572000" y="4233600"/>
            <a:ext cx="4114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09ef7"/>
                </a:solidFill>
                <a:latin typeface="Calibri"/>
              </a:rPr>
              <a:t>Finding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Box 18"/>
          <p:cNvSpPr/>
          <p:nvPr/>
        </p:nvSpPr>
        <p:spPr>
          <a:xfrm>
            <a:off x="9144000" y="4233600"/>
            <a:ext cx="2285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009ef7"/>
                </a:solidFill>
                <a:latin typeface="Calibri"/>
              </a:rPr>
              <a:t>Filter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ounded Rectangle 19"/>
          <p:cNvSpPr/>
          <p:nvPr/>
        </p:nvSpPr>
        <p:spPr>
          <a:xfrm>
            <a:off x="502920" y="4553640"/>
            <a:ext cx="11155320" cy="29232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20"/>
          <p:cNvSpPr/>
          <p:nvPr/>
        </p:nvSpPr>
        <p:spPr>
          <a:xfrm>
            <a:off x="640080" y="4572000"/>
            <a:ext cx="292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Invalid Password (LEBI)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Box 21"/>
          <p:cNvSpPr/>
          <p:nvPr/>
        </p:nvSpPr>
        <p:spPr>
          <a:xfrm>
            <a:off x="3566160" y="4572000"/>
            <a:ext cx="731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8c00"/>
                </a:solidFill>
                <a:latin typeface="Calibri"/>
              </a:rPr>
              <a:t>WLAN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Box 22"/>
          <p:cNvSpPr/>
          <p:nvPr/>
        </p:nvSpPr>
        <p:spPr>
          <a:xfrm>
            <a:off x="4572000" y="457200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Detected EAPOL Msg1 stall → client deauth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23"/>
          <p:cNvSpPr/>
          <p:nvPr/>
        </p:nvSpPr>
        <p:spPr>
          <a:xfrm>
            <a:off x="9144000" y="4572000"/>
            <a:ext cx="2285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99bb"/>
                </a:solidFill>
                <a:latin typeface="Calibri"/>
              </a:rPr>
              <a:t>c8:5a:cf:66:2e:1e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ounded Rectangle 24"/>
          <p:cNvSpPr/>
          <p:nvPr/>
        </p:nvSpPr>
        <p:spPr>
          <a:xfrm>
            <a:off x="502920" y="4855320"/>
            <a:ext cx="11155320" cy="292320"/>
          </a:xfrm>
          <a:prstGeom prst="roundRect">
            <a:avLst>
              <a:gd name="adj" fmla="val 5000"/>
            </a:avLst>
          </a:prstGeom>
          <a:solidFill>
            <a:srgbClr val="2025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25"/>
          <p:cNvSpPr/>
          <p:nvPr/>
        </p:nvSpPr>
        <p:spPr>
          <a:xfrm>
            <a:off x="640080" y="4873680"/>
            <a:ext cx="292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WPA3/SAE Mixed-Mode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Box 26"/>
          <p:cNvSpPr/>
          <p:nvPr/>
        </p:nvSpPr>
        <p:spPr>
          <a:xfrm>
            <a:off x="3566160" y="4873680"/>
            <a:ext cx="731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9ef7"/>
                </a:solidFill>
                <a:latin typeface="Calibri"/>
              </a:rPr>
              <a:t>WLAN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27"/>
          <p:cNvSpPr/>
          <p:nvPr/>
        </p:nvSpPr>
        <p:spPr>
          <a:xfrm>
            <a:off x="4572000" y="487368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SAE Commit/Confirm + fallback diagnosis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28"/>
          <p:cNvSpPr/>
          <p:nvPr/>
        </p:nvSpPr>
        <p:spPr>
          <a:xfrm>
            <a:off x="9144000" y="4873680"/>
            <a:ext cx="2285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99bb"/>
                </a:solidFill>
                <a:latin typeface="Calibri"/>
              </a:rPr>
              <a:t>f8:ed:fc:fe:00:e9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Rounded Rectangle 29"/>
          <p:cNvSpPr/>
          <p:nvPr/>
        </p:nvSpPr>
        <p:spPr>
          <a:xfrm>
            <a:off x="502920" y="5157360"/>
            <a:ext cx="11155320" cy="29232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30"/>
          <p:cNvSpPr/>
          <p:nvPr/>
        </p:nvSpPr>
        <p:spPr>
          <a:xfrm>
            <a:off x="640080" y="5175360"/>
            <a:ext cx="292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PMF Invalid Password (MARS)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Box 31"/>
          <p:cNvSpPr/>
          <p:nvPr/>
        </p:nvSpPr>
        <p:spPr>
          <a:xfrm>
            <a:off x="3566160" y="5175360"/>
            <a:ext cx="731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ff8c00"/>
                </a:solidFill>
                <a:latin typeface="Calibri"/>
              </a:rPr>
              <a:t>WLAN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32"/>
          <p:cNvSpPr/>
          <p:nvPr/>
        </p:nvSpPr>
        <p:spPr>
          <a:xfrm>
            <a:off x="4572000" y="517536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PMF-protected auth failure root-cause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33"/>
          <p:cNvSpPr/>
          <p:nvPr/>
        </p:nvSpPr>
        <p:spPr>
          <a:xfrm>
            <a:off x="9144000" y="5175360"/>
            <a:ext cx="2285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99bb"/>
                </a:solidFill>
                <a:latin typeface="Calibri"/>
              </a:rPr>
              <a:t>02:ba:d0:01:23:45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Rounded Rectangle 34"/>
          <p:cNvSpPr/>
          <p:nvPr/>
        </p:nvSpPr>
        <p:spPr>
          <a:xfrm>
            <a:off x="502920" y="5459040"/>
            <a:ext cx="11155320" cy="292320"/>
          </a:xfrm>
          <a:prstGeom prst="roundRect">
            <a:avLst>
              <a:gd name="adj" fmla="val 5000"/>
            </a:avLst>
          </a:prstGeom>
          <a:solidFill>
            <a:srgbClr val="2025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35"/>
          <p:cNvSpPr/>
          <p:nvPr/>
        </p:nvSpPr>
        <p:spPr>
          <a:xfrm>
            <a:off x="640080" y="5477400"/>
            <a:ext cx="292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IPv6 Device Analysis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36"/>
          <p:cNvSpPr/>
          <p:nvPr/>
        </p:nvSpPr>
        <p:spPr>
          <a:xfrm>
            <a:off x="3566160" y="5477400"/>
            <a:ext cx="731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c983"/>
                </a:solidFill>
                <a:latin typeface="Calibri"/>
              </a:rPr>
              <a:t>IPv6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37"/>
          <p:cNvSpPr/>
          <p:nvPr/>
        </p:nvSpPr>
        <p:spPr>
          <a:xfrm>
            <a:off x="4572000" y="547740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TCP/UDP/ICMPv6/SNMP full breakdown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Box 38"/>
          <p:cNvSpPr/>
          <p:nvPr/>
        </p:nvSpPr>
        <p:spPr>
          <a:xfrm>
            <a:off x="9144000" y="5477400"/>
            <a:ext cx="2285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99bb"/>
                </a:solidFill>
                <a:latin typeface="Calibri"/>
              </a:rPr>
              <a:t>2408:8a04:...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ounded Rectangle 39"/>
          <p:cNvSpPr/>
          <p:nvPr/>
        </p:nvSpPr>
        <p:spPr>
          <a:xfrm>
            <a:off x="502920" y="5760720"/>
            <a:ext cx="11155320" cy="29232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40"/>
          <p:cNvSpPr/>
          <p:nvPr/>
        </p:nvSpPr>
        <p:spPr>
          <a:xfrm>
            <a:off x="640080" y="5779080"/>
            <a:ext cx="29257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Print Job Stalls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41"/>
          <p:cNvSpPr/>
          <p:nvPr/>
        </p:nvSpPr>
        <p:spPr>
          <a:xfrm>
            <a:off x="3566160" y="5779080"/>
            <a:ext cx="731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9ef7"/>
                </a:solidFill>
                <a:latin typeface="Calibri"/>
              </a:rPr>
              <a:t>TCP/UDP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42"/>
          <p:cNvSpPr/>
          <p:nvPr/>
        </p:nvSpPr>
        <p:spPr>
          <a:xfrm>
            <a:off x="4572000" y="5779080"/>
            <a:ext cx="438876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Zero-window stalls + RST burst timeline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Box 43"/>
          <p:cNvSpPr/>
          <p:nvPr/>
        </p:nvSpPr>
        <p:spPr>
          <a:xfrm>
            <a:off x="9144000" y="5779080"/>
            <a:ext cx="2285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899bb"/>
                </a:solidFill>
                <a:latin typeface="Calibri"/>
              </a:rPr>
              <a:t>—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009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548640" y="274320"/>
            <a:ext cx="91436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Impact &amp; Road Ahead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Box 3"/>
          <p:cNvSpPr/>
          <p:nvPr/>
        </p:nvSpPr>
        <p:spPr>
          <a:xfrm>
            <a:off x="502920" y="1097280"/>
            <a:ext cx="5486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c983"/>
                </a:solidFill>
                <a:latin typeface="Calibri"/>
              </a:rPr>
              <a:t>Proven Effectiveness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Rounded Rectangle 4"/>
          <p:cNvSpPr/>
          <p:nvPr/>
        </p:nvSpPr>
        <p:spPr>
          <a:xfrm>
            <a:off x="502920" y="1600200"/>
            <a:ext cx="5668920" cy="6213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640080" y="1645920"/>
            <a:ext cx="5394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⏱️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Hours → Seconds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640080" y="1901880"/>
            <a:ext cx="5394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Full WLAN connection diagnosis in &lt;10 seconds vs hours of manual Wireshark inspection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ounded Rectangle 7"/>
          <p:cNvSpPr/>
          <p:nvPr/>
        </p:nvSpPr>
        <p:spPr>
          <a:xfrm>
            <a:off x="502920" y="2286000"/>
            <a:ext cx="5668920" cy="6213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640080" y="2331720"/>
            <a:ext cx="5394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🎯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Root-Cause Precision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Box 9"/>
          <p:cNvSpPr/>
          <p:nvPr/>
        </p:nvSpPr>
        <p:spPr>
          <a:xfrm>
            <a:off x="640080" y="2587680"/>
            <a:ext cx="5394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Pinpoints exact failure step — e.g., 'EAPOL Msg1 received, client deauth'd (wrong password)'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Rounded Rectangle 10"/>
          <p:cNvSpPr/>
          <p:nvPr/>
        </p:nvSpPr>
        <p:spPr>
          <a:xfrm>
            <a:off x="502920" y="2971800"/>
            <a:ext cx="5668920" cy="6213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11"/>
          <p:cNvSpPr/>
          <p:nvPr/>
        </p:nvSpPr>
        <p:spPr>
          <a:xfrm>
            <a:off x="640080" y="3017520"/>
            <a:ext cx="5394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📋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Actionable Reports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Box 12"/>
          <p:cNvSpPr/>
          <p:nvPr/>
        </p:nvSpPr>
        <p:spPr>
          <a:xfrm>
            <a:off x="640080" y="3273480"/>
            <a:ext cx="5394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Self-contained HTML reports with severity badges and remediation — shareable with non-experts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Rounded Rectangle 13"/>
          <p:cNvSpPr/>
          <p:nvPr/>
        </p:nvSpPr>
        <p:spPr>
          <a:xfrm>
            <a:off x="502920" y="3657600"/>
            <a:ext cx="5668920" cy="6213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14"/>
          <p:cNvSpPr/>
          <p:nvPr/>
        </p:nvSpPr>
        <p:spPr>
          <a:xfrm>
            <a:off x="640080" y="3703320"/>
            <a:ext cx="5394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🔄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Repeatable &amp; Consistent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15"/>
          <p:cNvSpPr/>
          <p:nvPr/>
        </p:nvSpPr>
        <p:spPr>
          <a:xfrm>
            <a:off x="640080" y="3959280"/>
            <a:ext cx="5394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Same analysis every time — eliminates human variability in packet interpretation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ounded Rectangle 16"/>
          <p:cNvSpPr/>
          <p:nvPr/>
        </p:nvSpPr>
        <p:spPr>
          <a:xfrm>
            <a:off x="502920" y="4343400"/>
            <a:ext cx="5668920" cy="6213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17"/>
          <p:cNvSpPr/>
          <p:nvPr/>
        </p:nvSpPr>
        <p:spPr>
          <a:xfrm>
            <a:off x="640080" y="4389120"/>
            <a:ext cx="5394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🔌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Zero External Dependencies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18"/>
          <p:cNvSpPr/>
          <p:nvPr/>
        </p:nvSpPr>
        <p:spPr>
          <a:xfrm>
            <a:off x="640080" y="4645080"/>
            <a:ext cx="5394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Runs locally with just Python + tshark — no cloud, no subscriptions, no data leaving the network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19"/>
          <p:cNvSpPr/>
          <p:nvPr/>
        </p:nvSpPr>
        <p:spPr>
          <a:xfrm>
            <a:off x="6583680" y="1097280"/>
            <a:ext cx="5028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9ef7"/>
                </a:solidFill>
                <a:latin typeface="Calibri"/>
              </a:rPr>
              <a:t>What's Next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Oval 20"/>
          <p:cNvSpPr/>
          <p:nvPr/>
        </p:nvSpPr>
        <p:spPr>
          <a:xfrm>
            <a:off x="6583680" y="1673280"/>
            <a:ext cx="164160" cy="164160"/>
          </a:xfrm>
          <a:prstGeom prst="ellipse">
            <a:avLst/>
          </a:prstGeom>
          <a:solidFill>
            <a:srgbClr val="009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Rectangle 21"/>
          <p:cNvSpPr/>
          <p:nvPr/>
        </p:nvSpPr>
        <p:spPr>
          <a:xfrm>
            <a:off x="6652440" y="1856160"/>
            <a:ext cx="27000" cy="548280"/>
          </a:xfrm>
          <a:prstGeom prst="rect">
            <a:avLst/>
          </a:prstGeom>
          <a:solidFill>
            <a:srgbClr val="444c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22"/>
          <p:cNvSpPr/>
          <p:nvPr/>
        </p:nvSpPr>
        <p:spPr>
          <a:xfrm>
            <a:off x="6903720" y="1618560"/>
            <a:ext cx="4571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Live Capture Mode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Box 23"/>
          <p:cNvSpPr/>
          <p:nvPr/>
        </p:nvSpPr>
        <p:spPr>
          <a:xfrm>
            <a:off x="6903720" y="189288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Real-time monitoring with tshark pipe — alert on threats as they happen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Oval 24"/>
          <p:cNvSpPr/>
          <p:nvPr/>
        </p:nvSpPr>
        <p:spPr>
          <a:xfrm>
            <a:off x="6583680" y="2450520"/>
            <a:ext cx="164160" cy="164160"/>
          </a:xfrm>
          <a:prstGeom prst="ellipse">
            <a:avLst/>
          </a:prstGeom>
          <a:solidFill>
            <a:srgbClr val="009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Rectangle 25"/>
          <p:cNvSpPr/>
          <p:nvPr/>
        </p:nvSpPr>
        <p:spPr>
          <a:xfrm>
            <a:off x="6652440" y="2633400"/>
            <a:ext cx="27000" cy="548280"/>
          </a:xfrm>
          <a:prstGeom prst="rect">
            <a:avLst/>
          </a:prstGeom>
          <a:solidFill>
            <a:srgbClr val="444c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26"/>
          <p:cNvSpPr/>
          <p:nvPr/>
        </p:nvSpPr>
        <p:spPr>
          <a:xfrm>
            <a:off x="6903720" y="2395800"/>
            <a:ext cx="4571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AI-Powered Summary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Box 27"/>
          <p:cNvSpPr/>
          <p:nvPr/>
        </p:nvSpPr>
        <p:spPr>
          <a:xfrm>
            <a:off x="6903720" y="267012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LLM-generated plain-English diagnosis — 'Your Wi-Fi fails because...'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Oval 28"/>
          <p:cNvSpPr/>
          <p:nvPr/>
        </p:nvSpPr>
        <p:spPr>
          <a:xfrm>
            <a:off x="6583680" y="3227760"/>
            <a:ext cx="164160" cy="164160"/>
          </a:xfrm>
          <a:prstGeom prst="ellipse">
            <a:avLst/>
          </a:prstGeom>
          <a:solidFill>
            <a:srgbClr val="009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Rectangle 29"/>
          <p:cNvSpPr/>
          <p:nvPr/>
        </p:nvSpPr>
        <p:spPr>
          <a:xfrm>
            <a:off x="6652440" y="3410640"/>
            <a:ext cx="27000" cy="548280"/>
          </a:xfrm>
          <a:prstGeom prst="rect">
            <a:avLst/>
          </a:prstGeom>
          <a:solidFill>
            <a:srgbClr val="444c7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30"/>
          <p:cNvSpPr/>
          <p:nvPr/>
        </p:nvSpPr>
        <p:spPr>
          <a:xfrm>
            <a:off x="6903720" y="3173040"/>
            <a:ext cx="4571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Dashboard Integration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Box 31"/>
          <p:cNvSpPr/>
          <p:nvPr/>
        </p:nvSpPr>
        <p:spPr>
          <a:xfrm>
            <a:off x="6903720" y="3447360"/>
            <a:ext cx="4571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Feed JSON results into Grafana / ELK for team-wide visibility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Oval 32"/>
          <p:cNvSpPr/>
          <p:nvPr/>
        </p:nvSpPr>
        <p:spPr>
          <a:xfrm>
            <a:off x="6583680" y="4005000"/>
            <a:ext cx="164160" cy="164160"/>
          </a:xfrm>
          <a:prstGeom prst="ellipse">
            <a:avLst/>
          </a:prstGeom>
          <a:solidFill>
            <a:srgbClr val="009e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33"/>
          <p:cNvSpPr/>
          <p:nvPr/>
        </p:nvSpPr>
        <p:spPr>
          <a:xfrm>
            <a:off x="6903720" y="3950280"/>
            <a:ext cx="4571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Expanded Protocols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Box 34"/>
          <p:cNvSpPr/>
          <p:nvPr/>
        </p:nvSpPr>
        <p:spPr>
          <a:xfrm>
            <a:off x="6903720" y="4224600"/>
            <a:ext cx="45716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bbbbcc"/>
                </a:solidFill>
                <a:latin typeface="Calibri"/>
              </a:rPr>
              <a:t>Bluetooth, Zigbee, industrial (Modbus/DNP3) protocol support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Box 35"/>
          <p:cNvSpPr/>
          <p:nvPr/>
        </p:nvSpPr>
        <p:spPr>
          <a:xfrm>
            <a:off x="457200" y="6126480"/>
            <a:ext cx="11246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9ef7"/>
                </a:solidFill>
                <a:latin typeface="Calibri"/>
              </a:rPr>
              <a:t>AI-Wireshark-Analyzer  —  Automated  •  Actionable  •  Accurate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2026-05-08T14:55:27Z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